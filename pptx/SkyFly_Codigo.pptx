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  <Relationship Id="rId13" Type="http://schemas.openxmlformats.org/officeDocument/2006/relationships/slide" Target="slides/slide8.xml"/>
  <Relationship Id="rId14" Type="http://schemas.openxmlformats.org/officeDocument/2006/relationships/slide" Target="slides/slide9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4087692-7D96-4B42-9C1F-EC1EE7ACD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60AD096-A41F-418C-8B39-1B9B6EEC2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A22EC6F-FC34-48F7-9784-1CD73EF1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9BA5A73-83E1-4570-9B66-4D08D73B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7B88F89-8F8C-438B-8E15-0EE85F10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23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4C4675-383E-4DFD-AA85-F4638A37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6BE347F-785F-40DB-B2E4-DF936DDA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86C95763-4BA0-4E11-B60A-0CC15115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626812B-AC19-48DF-82E0-1BEEB20A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41FF938-0E16-46D0-A6AF-B6E96248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647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E34E3A0-FFC4-4040-AD3B-6B23AFDA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2B37582A-2044-4EDB-A03E-6F91AF20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A1CB110-52A5-4D1C-914B-1BF04F5D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1809B9A7-1400-424B-A784-40596D3C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8A8A5B0-C86F-41CA-95F4-8C9DDCB5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972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FDA1665-29F2-4CE5-882D-8492D182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12088FE-1BB3-439A-8F5B-2D9C7B1C0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50E44A3A-5CEF-4B78-8AE7-EE4DC7A01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E57176E0-3A92-4B59-8A15-DA02CF5E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60B7BE2-E7E5-4304-9E01-CCDC838E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39F92D8C-1E50-49B4-8C0B-DA270308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45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7021975-0FDF-44B2-BFD6-BDDC7C79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4424D3A-5384-47CB-B213-9D19E2578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BD019713-8C90-4EE7-A349-A57B8500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F2DC350B-8920-47B7-90C9-CEDE9613F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6A0AC4E5-6E02-463E-B1B3-0DD26B03B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C7FC42B1-BA7D-43FC-82AC-355F2168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198AD83D-ED20-4AA3-8BBF-C303A7C6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350E1190-79A7-44BB-97F4-57602A0A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1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7042C6-6960-4AC3-B3AE-7258B4AA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ED129ED5-5194-4416-9E94-F98390B5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A78564F6-E03D-454E-9AE9-01FF84A3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D132123D-095B-4486-9D21-A567CFA9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931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B27DA116-2C79-45D1-B3F1-F56B25E9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6599404A-3343-48F2-AD3D-6ABC1123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9649F142-FE13-4549-AEB3-2F06A062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74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047F195-53B9-48AB-943C-84B3F788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F7B741D7-6853-4F7C-930C-135816D6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1B725EF-99D4-44BA-9465-E829FA3B7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98E6160-0952-4AE2-913E-F8232F2B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4B5C9AC0-5366-42C4-8BB9-1C8360B9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2B8B5BB1-5D14-4939-9A06-0764977B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50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7C0518C-91FB-4DCB-8E98-552FE289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703F00A5-DEB0-418F-AB3F-983183FF0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290E094-80F1-4FC2-8783-733A8DB98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0F44B36-1E90-4E55-9AAC-46A0985F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91BA349-E599-4C1B-AC3E-A38A074D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B47919F1-6E7A-4911-AF6B-2501E2C9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54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BA7EC4B-1C80-4B70-889D-8FBE843B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0FE18196-29C8-4DC4-BF7D-88B77B67A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AB300C5-2AD1-4CFD-A6DD-B89DDEC5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648D731-E5C4-4E67-99AB-84B0257C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202B54A7-ABCB-4C3F-996F-AD11C016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80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B1BEAF15-7658-41EA-88C7-5B82886E2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74C19DCF-B40B-453D-9B82-AF0B0E65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7121CCB-320D-4153-8BF6-27A6D59E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AA3CB01-7FA7-4574-9FFC-9CA300F8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E78DDC5-4FE1-4C1D-B3D7-B15C19DA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37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3CF4F349-4F35-44F2-82F3-381F16B7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B2E560E-50BD-479C-AF89-F8053F17F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97555E14-8D41-46D7-BBFA-FBB6E1413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39F706F-2BCD-4D33-989F-92F613F1C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A71B7D2-AE3A-40D0-8101-C1DF09912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35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1252728" y="196596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4400" b="1" i="0" dirty="0">
                <a:solidFill>
                  <a:srgbClr val="1B1B1B"/>
                </a:solidFill>
                <a:latin typeface="Myriad Pro Cond"/>
                <a:cs typeface="Myriad Pro Cond"/>
              </a:rPr>
              <a:t>SkyFly</a:t>
            </a:r>
          </a:p>
        </p:txBody>
      </p:sp>
      <p:sp>
        <p:nvSpPr>
          <p:cNvPr id="12" name="Subtítulo"/>
          <p:cNvSpPr txBox="1"/>
          <p:nvPr/>
        </p:nvSpPr>
        <p:spPr>
          <a:xfrm>
            <a:off x="1252728" y="2697480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2400" b="1" i="0" dirty="0">
                <a:solidFill>
                  <a:srgbClr val="1B1B1B"/>
                </a:solidFill>
                <a:latin typeface="Myriad Pro Cond"/>
                <a:cs typeface="Myriad Pro Cond"/>
              </a:rPr>
              <a:t>Control de vuelos programados</a:t>
            </a:r>
          </a:p>
        </p:txBody>
      </p:sp>
      <p:sp>
        <p:nvSpPr>
          <p:cNvPr id="13" name="Examen"/>
          <p:cNvSpPr txBox="1"/>
          <p:nvPr/>
        </p:nvSpPr>
        <p:spPr>
          <a:xfrm>
            <a:off x="1252728" y="310896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1800" b="1" i="1" dirty="0">
                <a:solidFill>
                  <a:srgbClr val="11622F"/>
                </a:solidFill>
                <a:latin typeface="Myriad Pro Cond"/>
                <a:cs typeface="Myriad Pro Cond"/>
              </a:rPr>
              <a:t>Examen Parcial · Estructuras de Datos · 2026-2027</a:t>
            </a:r>
          </a:p>
        </p:txBody>
      </p:sp>
      <p:sp>
        <p:nvSpPr>
          <p:cNvPr id="14" name="Autores"/>
          <p:cNvSpPr txBox="1"/>
          <p:nvPr/>
        </p:nvSpPr>
        <p:spPr>
          <a:xfrm>
            <a:off x="1252728" y="365760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1800" b="1" i="0" dirty="0">
                <a:solidFill>
                  <a:srgbClr val="1B1B1B"/>
                </a:solidFill>
                <a:latin typeface="Myriad Pro Cond"/>
                <a:cs typeface="Myriad Pro Cond"/>
              </a:rPr>
              <a:t>AUTORES</a:t>
            </a:r>
          </a:p>
        </p:txBody>
      </p:sp>
      <p:sp>
        <p:nvSpPr>
          <p:cNvPr id="15" name="Lista de autores"/>
          <p:cNvSpPr txBox="1"/>
          <p:nvPr/>
        </p:nvSpPr>
        <p:spPr>
          <a:xfrm>
            <a:off x="1252728" y="4023360"/>
            <a:ext cx="969264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1600" b="1" i="1" dirty="0">
                <a:solidFill>
                  <a:srgbClr val="11622F"/>
                </a:solidFill>
                <a:latin typeface="Myriad Pro Cond"/>
                <a:cs typeface="Myriad Pro Cond"/>
              </a:rPr>
              <a:t>Katherine Alvarez Amador</a:t>
            </a:r>
          </a:p>
          <a:p>
            <a:pPr algn="ctr">
              <a:spcAft>
                <a:spcPts val="0"/>
              </a:spcAft>
              <a:buNone/>
            </a:pPr>
            <a:r>
              <a:rPr lang="es-ES" sz="1600" b="1" i="1" dirty="0">
                <a:solidFill>
                  <a:srgbClr val="11622F"/>
                </a:solidFill>
                <a:latin typeface="Myriad Pro Cond"/>
                <a:cs typeface="Myriad Pro Cond"/>
              </a:rPr>
              <a:t>Adrian Jesus Pelaez Rodriguez</a:t>
            </a:r>
          </a:p>
          <a:p>
            <a:pPr algn="ctr">
              <a:spcAft>
                <a:spcPts val="0"/>
              </a:spcAft>
              <a:buNone/>
            </a:pPr>
            <a:r>
              <a:rPr lang="es-ES" sz="1600" b="1" i="1" dirty="0">
                <a:solidFill>
                  <a:srgbClr val="11622F"/>
                </a:solidFill>
                <a:latin typeface="Myriad Pro Cond"/>
                <a:cs typeface="Myriad Pro Cond"/>
              </a:rPr>
              <a:t>Adrian Enrique Reinoso Gómez</a:t>
            </a:r>
          </a:p>
          <a:p>
            <a:pPr algn="ctr">
              <a:spcAft>
                <a:spcPts val="0"/>
              </a:spcAft>
              <a:buNone/>
            </a:pPr>
            <a:r>
              <a:rPr lang="es-ES" sz="1600" b="1" i="1" dirty="0">
                <a:solidFill>
                  <a:srgbClr val="11622F"/>
                </a:solidFill>
                <a:latin typeface="Myriad Pro Cond"/>
                <a:cs typeface="Myriad Pro Cond"/>
              </a:rPr>
              <a:t>Edgar Guillermo Hernández Domínguez</a:t>
            </a:r>
          </a:p>
          <a:p>
            <a:pPr algn="ctr">
              <a:spcAft>
                <a:spcPts val="0"/>
              </a:spcAft>
              <a:buNone/>
            </a:pPr>
            <a:r>
              <a:rPr lang="es-ES" sz="1600" b="1" i="1" dirty="0">
                <a:solidFill>
                  <a:srgbClr val="11622F"/>
                </a:solidFill>
                <a:latin typeface="Myriad Pro Cond"/>
                <a:cs typeface="Myriad Pro Cond"/>
              </a:rPr>
              <a:t>Alejandro Javier Montesino Ruiz</a:t>
            </a:r>
          </a:p>
        </p:txBody>
      </p:sp>
    </p:spTree>
    <p:extLst>
      <p:ext uri="{BB962C8B-B14F-4D97-AF65-F5344CB8AC3E}">
        <p14:creationId xmlns:p14="http://schemas.microsoft.com/office/powerpoint/2010/main" val="1603619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3600" b="1" i="0" dirty="0">
                <a:solidFill>
                  <a:srgbClr val="11622F"/>
                </a:solidFill>
                <a:latin typeface="Myriad Pro Cond"/>
                <a:cs typeface="Myriad Pro Cond"/>
              </a:rPr>
              <a:t>La problemática</a:t>
            </a:r>
          </a:p>
        </p:txBody>
      </p:sp>
      <p:sp>
        <p:nvSpPr>
          <p:cNvPr id="12" name="Texto problemática"/>
          <p:cNvSpPr txBox="1"/>
          <p:nvPr/>
        </p:nvSpPr>
        <p:spPr>
          <a:xfrm>
            <a:off x="1097280" y="1737360"/>
            <a:ext cx="996696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800"/>
              </a:spcAft>
              <a:buNone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La aerolínea SkyFly desea controlar los datos de sus vuelos programados.</a:t>
            </a:r>
          </a:p>
          <a:p>
            <a:pPr algn="l">
              <a:spcAft>
                <a:spcPts val="800"/>
              </a:spcAft>
              <a:buNone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De cada vuelo se conoce: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número de vuelo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destino</a:t>
            </a:r>
          </a:p>
          <a:p>
            <a:pPr algn="l" marL="342900" indent="-342900">
              <a:spcAft>
                <a:spcPts val="40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estado (A tiempo, Demorado o Cancelado)</a:t>
            </a:r>
          </a:p>
          <a:p>
            <a:pPr algn="l" marL="342900" indent="-342900">
              <a:spcAft>
                <a:spcPts val="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duración en horas</a:t>
            </a:r>
          </a:p>
        </p:txBody>
      </p:sp>
    </p:spTree>
    <p:extLst>
      <p:ext uri="{BB962C8B-B14F-4D97-AF65-F5344CB8AC3E}">
        <p14:creationId xmlns:p14="http://schemas.microsoft.com/office/powerpoint/2010/main" val="3311362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3E45A9-74E4-E7E9-EB14-A3B0D62E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3600" b="1" i="0" dirty="0">
                <a:solidFill>
                  <a:srgbClr val="11622F"/>
                </a:solidFill>
                <a:latin typeface="Myriad Pro Cond"/>
                <a:cs typeface="Myriad Pro Cond"/>
              </a:rPr>
              <a:t>Estructura de datos</a:t>
            </a:r>
          </a:p>
        </p:txBody>
      </p:sp>
      <p:sp>
        <p:nvSpPr>
          <p:cNvPr id="12" name="Texto estructura"/>
          <p:cNvSpPr txBox="1"/>
          <p:nvPr/>
        </p:nvSpPr>
        <p:spPr>
          <a:xfrm>
            <a:off x="1097280" y="1645920"/>
            <a:ext cx="996696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600"/>
              </a:spcAft>
              <a:buNone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Lista enlazada simple: cada nodo guarda un vuelo y apunta al siguiente.</a:t>
            </a:r>
          </a:p>
          <a:p>
            <a:pPr algn="l" marL="342900" indent="-342900">
              <a:spcAft>
                <a:spcPts val="800"/>
              </a:spcAft>
              <a:buFont typeface="Arial"/>
              <a:buChar char="•"/>
            </a:pPr>
            <a:r>
              <a:rPr lang="es-ES" sz="2400" b="1" i="0" dirty="0">
                <a:solidFill>
                  <a:srgbClr val="11622F"/>
                </a:solidFill>
                <a:latin typeface="Calibri"/>
                <a:cs typeface="Calibri"/>
              </a:rPr>
              <a:t>Vuelos: </a:t>
            </a: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los datos de cada vuelo.</a:t>
            </a:r>
          </a:p>
          <a:p>
            <a:pPr algn="l" marL="342900" indent="-342900">
              <a:spcAft>
                <a:spcPts val="800"/>
              </a:spcAft>
              <a:buFont typeface="Arial"/>
              <a:buChar char="•"/>
            </a:pPr>
            <a:r>
              <a:rPr lang="es-ES" sz="2400" b="1" i="0" dirty="0">
                <a:solidFill>
                  <a:srgbClr val="11622F"/>
                </a:solidFill>
                <a:latin typeface="Calibri"/>
                <a:cs typeface="Calibri"/>
              </a:rPr>
              <a:t>Nodo: </a:t>
            </a: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un vuelo y el enlace al siguiente nodo (next).</a:t>
            </a:r>
          </a:p>
          <a:p>
            <a:pPr algn="l" marL="342900" indent="-342900">
              <a:spcAft>
                <a:spcPts val="800"/>
              </a:spcAft>
              <a:buFont typeface="Arial"/>
              <a:buChar char="•"/>
            </a:pPr>
            <a:r>
              <a:rPr lang="es-ES" sz="2400" b="1" i="0" dirty="0">
                <a:solidFill>
                  <a:srgbClr val="11622F"/>
                </a:solidFill>
                <a:latin typeface="Calibri"/>
                <a:cs typeface="Calibri"/>
              </a:rPr>
              <a:t>ControlVuelo: </a:t>
            </a: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la lista (head) y sus operaciones.</a:t>
            </a:r>
          </a:p>
          <a:p>
            <a:pPr algn="l" marL="342900" indent="-342900">
              <a:spcAft>
                <a:spcPts val="0"/>
              </a:spcAft>
              <a:buFont typeface="Arial"/>
              <a:buChar char="•"/>
            </a:pPr>
            <a:r>
              <a:rPr lang="es-ES" sz="2400" b="1" i="0" dirty="0">
                <a:solidFill>
                  <a:srgbClr val="11622F"/>
                </a:solidFill>
                <a:latin typeface="Calibri"/>
                <a:cs typeface="Calibri"/>
              </a:rPr>
              <a:t>main: </a:t>
            </a: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menú por consola para usar la lista.</a:t>
            </a:r>
          </a:p>
        </p:txBody>
      </p:sp>
    </p:spTree>
    <p:extLst>
      <p:ext uri="{BB962C8B-B14F-4D97-AF65-F5344CB8AC3E}">
        <p14:creationId xmlns:p14="http://schemas.microsoft.com/office/powerpoint/2010/main" val="92433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3600" b="1" i="0" dirty="0">
                <a:solidFill>
                  <a:srgbClr val="11622F"/>
                </a:solidFill>
                <a:latin typeface="Myriad Pro Cond"/>
                <a:cs typeface="Myriad Pro Cond"/>
              </a:rPr>
              <a:t>Casos de prueba</a:t>
            </a:r>
          </a:p>
        </p:txBody>
      </p:sp>
      <p:sp>
        <p:nvSpPr>
          <p:cNvPr id="12" name="Texto casos de prueba"/>
          <p:cNvSpPr txBox="1"/>
          <p:nvPr/>
        </p:nvSpPr>
        <p:spPr>
          <a:xfrm>
            <a:off x="1097280" y="1645920"/>
            <a:ext cx="996696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Se insertan estos vuelos: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AA1234 · Madrid · A tiempo · 8.5 h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IB5678 · Paris · Demorado · 10.0 h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LA9101 · Buenos Aires · Cancelado · 6.5 h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AV2020 · Bogota · Demorado · 5.0 h</a:t>
            </a:r>
          </a:p>
          <a:p>
            <a:pPr algn="l" marL="342900" indent="-342900">
              <a:spcAft>
                <a:spcPts val="600"/>
              </a:spcAft>
              <a:buFont typeface="Arial"/>
              <a:buChar char="•"/>
            </a:pPr>
            <a:r>
              <a:rPr lang="es-ES" sz="2400" b="0" i="0" dirty="0">
                <a:solidFill>
                  <a:srgbClr val="1B1B1B"/>
                </a:solidFill>
                <a:latin typeface="Calibri"/>
                <a:cs typeface="Calibri"/>
              </a:rPr>
              <a:t>QF0001 · Sidney · A tiempo · 15.75 h</a:t>
            </a:r>
          </a:p>
          <a:p>
            <a:pPr algn="l">
              <a:spcAft>
                <a:spcPts val="0"/>
              </a:spcAft>
              <a:buNone/>
            </a:pPr>
            <a:r>
              <a:rPr lang="es-ES" sz="2000" b="0" i="0" dirty="0">
                <a:solidFill>
                  <a:srgbClr val="4D5B55"/>
                </a:solidFill>
                <a:latin typeface="Calibri"/>
                <a:cs typeface="Calibri"/>
              </a:rPr>
              <a:t>Se prueban casos positivos (flujo normal) y negativos (lista vacía, vuelo o destino no encontrado).</a:t>
            </a:r>
          </a:p>
        </p:txBody>
      </p:sp>
    </p:spTree>
    <p:extLst>
      <p:ext uri="{BB962C8B-B14F-4D97-AF65-F5344CB8AC3E}">
        <p14:creationId xmlns:p14="http://schemas.microsoft.com/office/powerpoint/2010/main" val="3311362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3600" b="1" i="0" dirty="0">
                <a:solidFill>
                  <a:srgbClr val="11622F"/>
                </a:solidFill>
                <a:latin typeface="Myriad Pro Cond"/>
                <a:cs typeface="Myriad Pro Cond"/>
              </a:rPr>
              <a:t>VuelosDemorados()</a:t>
            </a:r>
          </a:p>
        </p:txBody>
      </p:sp>
      <p:sp>
        <p:nvSpPr>
          <p:cNvPr id="12" name="Contenido método"/>
          <p:cNvSpPr txBox="1"/>
          <p:nvPr/>
        </p:nvSpPr>
        <p:spPr>
          <a:xfrm>
            <a:off x="1097280" y="1554480"/>
            <a:ext cx="996696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VuelosDemorados()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Recorre la lista y muestra los vuelos cuyo estado es "Demorado".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Caso positivo: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muestra IB5678 (Paris) y AV2020 (Bogota).</a:t>
            </a:r>
          </a:p>
          <a:p>
            <a:pPr algn="l">
              <a:spcAft>
                <a:spcPts val="0"/>
              </a:spcAft>
              <a:buNone/>
            </a:pPr>
            <a:r>
              <a:rPr lang="es-ES" sz="2200" b="1" i="0" dirty="0">
                <a:solidFill>
                  <a:srgbClr val="B3261E"/>
                </a:solidFill>
                <a:latin typeface="Calibri"/>
                <a:cs typeface="Calibri"/>
              </a:rPr>
              <a:t>Caso negativo: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si no hay vuelos demorados, no muestra ninguno.</a:t>
            </a:r>
          </a:p>
        </p:txBody>
      </p:sp>
    </p:spTree>
    <p:extLst>
      <p:ext uri="{BB962C8B-B14F-4D97-AF65-F5344CB8AC3E}">
        <p14:creationId xmlns:p14="http://schemas.microsoft.com/office/powerpoint/2010/main" val="331136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3600" b="1" i="0" dirty="0">
                <a:solidFill>
                  <a:srgbClr val="11622F"/>
                </a:solidFill>
                <a:latin typeface="Myriad Pro Cond"/>
                <a:cs typeface="Myriad Pro Cond"/>
              </a:rPr>
              <a:t>MostrarOrdenadosPorDuracion()</a:t>
            </a:r>
          </a:p>
        </p:txBody>
      </p:sp>
      <p:sp>
        <p:nvSpPr>
          <p:cNvPr id="12" name="Contenido método"/>
          <p:cNvSpPr txBox="1"/>
          <p:nvPr/>
        </p:nvSpPr>
        <p:spPr>
          <a:xfrm>
            <a:off x="1097280" y="1554480"/>
            <a:ext cx="996696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MostrarOrdenadosPorDuracion()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Ordena los vuelos por duración, de menor a mayor, y los muestra.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Caso positivo: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orden AV2020 (5.0), LA9101 (6.5), AA1234 (8.5), IB5678 (10.0), QF0001 (15.75).</a:t>
            </a:r>
          </a:p>
          <a:p>
            <a:pPr algn="l">
              <a:spcAft>
                <a:spcPts val="0"/>
              </a:spcAft>
              <a:buNone/>
            </a:pPr>
            <a:r>
              <a:rPr lang="es-ES" sz="2200" b="1" i="0" dirty="0">
                <a:solidFill>
                  <a:srgbClr val="B3261E"/>
                </a:solidFill>
                <a:latin typeface="Calibri"/>
                <a:cs typeface="Calibri"/>
              </a:rPr>
              <a:t>Caso negativo: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lista vacía: muestra "No hay vuelos registrados."</a:t>
            </a:r>
          </a:p>
        </p:txBody>
      </p:sp>
    </p:spTree>
    <p:extLst>
      <p:ext uri="{BB962C8B-B14F-4D97-AF65-F5344CB8AC3E}">
        <p14:creationId xmlns:p14="http://schemas.microsoft.com/office/powerpoint/2010/main" val="331136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3600" b="1" i="0" dirty="0">
                <a:solidFill>
                  <a:srgbClr val="11622F"/>
                </a:solidFill>
                <a:latin typeface="Myriad Pro Cond"/>
                <a:cs typeface="Myriad Pro Cond"/>
              </a:rPr>
              <a:t>CancelarVuelosADestino()</a:t>
            </a:r>
          </a:p>
        </p:txBody>
      </p:sp>
      <p:sp>
        <p:nvSpPr>
          <p:cNvPr id="12" name="Contenido método"/>
          <p:cNvSpPr txBox="1"/>
          <p:nvPr/>
        </p:nvSpPr>
        <p:spPr>
          <a:xfrm>
            <a:off x="1097280" y="1554480"/>
            <a:ext cx="996696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CancelarVuelosADestino(String destino)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Elimina todos los vuelos al destino indicado y muestra cuántos se eliminaron.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Caso positivo: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"Madrid" elimina AA1234 y muestra "Vuelos Eliminados: 1".</a:t>
            </a:r>
          </a:p>
          <a:p>
            <a:pPr algn="l">
              <a:spcAft>
                <a:spcPts val="0"/>
              </a:spcAft>
              <a:buNone/>
            </a:pPr>
            <a:r>
              <a:rPr lang="es-ES" sz="2200" b="1" i="0" dirty="0">
                <a:solidFill>
                  <a:srgbClr val="B3261E"/>
                </a:solidFill>
                <a:latin typeface="Calibri"/>
                <a:cs typeface="Calibri"/>
              </a:rPr>
              <a:t>Caso negativo: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destino inexistente (ej. "Tokio") o vacío: muestra un error y no elimina nada.</a:t>
            </a:r>
          </a:p>
        </p:txBody>
      </p:sp>
    </p:spTree>
    <p:extLst>
      <p:ext uri="{BB962C8B-B14F-4D97-AF65-F5344CB8AC3E}">
        <p14:creationId xmlns:p14="http://schemas.microsoft.com/office/powerpoint/2010/main" val="331136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3600" b="1" i="0" dirty="0">
                <a:solidFill>
                  <a:srgbClr val="11622F"/>
                </a:solidFill>
                <a:latin typeface="Myriad Pro Cond"/>
                <a:cs typeface="Myriad Pro Cond"/>
              </a:rPr>
              <a:t>cambiarEstadoVuelo()</a:t>
            </a:r>
          </a:p>
        </p:txBody>
      </p:sp>
      <p:sp>
        <p:nvSpPr>
          <p:cNvPr id="12" name="Contenido método"/>
          <p:cNvSpPr txBox="1"/>
          <p:nvPr/>
        </p:nvSpPr>
        <p:spPr>
          <a:xfrm>
            <a:off x="1097280" y="1554480"/>
            <a:ext cx="996696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cambiarEstadoVuelo(String numeroVuelo, String estadoFinal)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Busca un vuelo por su número y cambia su estado. El menú primero comprueba que el vuelo exista.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Caso positivo: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IB5678 pasa a "A tiempo" y se confirma el cambio.</a:t>
            </a:r>
          </a:p>
          <a:p>
            <a:pPr algn="l">
              <a:spcAft>
                <a:spcPts val="0"/>
              </a:spcAft>
              <a:buNone/>
            </a:pPr>
            <a:r>
              <a:rPr lang="es-ES" sz="2200" b="1" i="0" dirty="0">
                <a:solidFill>
                  <a:srgbClr val="B3261E"/>
                </a:solidFill>
                <a:latin typeface="Calibri"/>
                <a:cs typeface="Calibri"/>
              </a:rPr>
              <a:t>Caso negativo: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número inexistente (ej. XX0000): muestra un error y no cambia nada.</a:t>
            </a:r>
          </a:p>
        </p:txBody>
      </p:sp>
    </p:spTree>
    <p:extLst>
      <p:ext uri="{BB962C8B-B14F-4D97-AF65-F5344CB8AC3E}">
        <p14:creationId xmlns:p14="http://schemas.microsoft.com/office/powerpoint/2010/main" val="3311362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ES" sz="3600" b="1" i="0" dirty="0">
                <a:solidFill>
                  <a:srgbClr val="11622F"/>
                </a:solidFill>
                <a:latin typeface="Myriad Pro Cond"/>
                <a:cs typeface="Myriad Pro Cond"/>
              </a:rPr>
              <a:t>buscarVueloMasLargo()</a:t>
            </a:r>
          </a:p>
        </p:txBody>
      </p:sp>
      <p:sp>
        <p:nvSpPr>
          <p:cNvPr id="12" name="Contenido método"/>
          <p:cNvSpPr txBox="1"/>
          <p:nvPr/>
        </p:nvSpPr>
        <p:spPr>
          <a:xfrm>
            <a:off x="1097280" y="1554480"/>
            <a:ext cx="996696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buscarVueloMasLargo()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Recorre la lista y muestra el vuelo con mayor duración.</a:t>
            </a:r>
          </a:p>
          <a:p>
            <a:pPr algn="l">
              <a:spcAft>
                <a:spcPts val="1600"/>
              </a:spcAft>
              <a:buNone/>
            </a:pPr>
            <a:r>
              <a:rPr lang="es-ES" sz="2200" b="1" i="0" dirty="0">
                <a:solidFill>
                  <a:srgbClr val="11622F"/>
                </a:solidFill>
                <a:latin typeface="Calibri"/>
                <a:cs typeface="Calibri"/>
              </a:rPr>
              <a:t>Caso positivo: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muestra QF0001, Sidney, A tiempo, 15.75 horas.</a:t>
            </a:r>
          </a:p>
          <a:p>
            <a:pPr algn="l">
              <a:spcAft>
                <a:spcPts val="0"/>
              </a:spcAft>
              <a:buNone/>
            </a:pPr>
            <a:r>
              <a:rPr lang="es-ES" sz="2200" b="1" i="0" dirty="0">
                <a:solidFill>
                  <a:srgbClr val="B3261E"/>
                </a:solidFill>
                <a:latin typeface="Calibri"/>
                <a:cs typeface="Calibri"/>
              </a:rPr>
              <a:t>Caso negativo: </a:t>
            </a:r>
            <a:r>
              <a:rPr lang="es-ES" sz="2200" b="0" i="0" dirty="0">
                <a:solidFill>
                  <a:srgbClr val="1B1B1B"/>
                </a:solidFill>
                <a:latin typeface="Calibri"/>
                <a:cs typeface="Calibri"/>
              </a:rPr>
              <a:t>lista vacía: muestra "No hay vuelos registrados."</a:t>
            </a:r>
          </a:p>
        </p:txBody>
      </p:sp>
    </p:spTree>
    <p:extLst>
      <p:ext uri="{BB962C8B-B14F-4D97-AF65-F5344CB8AC3E}">
        <p14:creationId xmlns:p14="http://schemas.microsoft.com/office/powerpoint/2010/main" val="33113629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</Words>
  <Application>Microsoft Office PowerPoint</Application>
  <PresentationFormat>Panorámica</PresentationFormat>
  <Paragraphs>14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Myriad Pro Cond</vt:lpstr>
      <vt:lpstr>Times New Roman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yaniela</dc:creator>
  <cp:lastModifiedBy>Adrian</cp:lastModifiedBy>
  <cp:revision>4</cp:revision>
  <dcterms:created xsi:type="dcterms:W3CDTF">2024-09-04T19:51:03Z</dcterms:created>
  <dcterms:modified xsi:type="dcterms:W3CDTF">2026-10-12T17:21:50Z</dcterms:modified>
</cp:coreProperties>
</file>